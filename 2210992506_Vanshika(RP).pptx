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5" r:id="rId10"/>
    <p:sldId id="278" r:id="rId11"/>
    <p:sldId id="272" r:id="rId12"/>
    <p:sldId id="273" r:id="rId13"/>
    <p:sldId id="274" r:id="rId14"/>
    <p:sldId id="276" r:id="rId15"/>
    <p:sldId id="277"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5/16/2026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endParaRPr lang="en-IN" b="1" dirty="0" smtClean="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IN" b="1" dirty="0" smtClean="0">
                <a:latin typeface="Times New Roman" panose="02020603050405020304" pitchFamily="18" charset="0"/>
                <a:ea typeface="Calibri" panose="020F0502020204030204" pitchFamily="34" charset="0"/>
                <a:cs typeface="Times New Roman" panose="02020603050405020304" pitchFamily="18" charset="0"/>
              </a:rPr>
              <a:t>Project </a:t>
            </a:r>
            <a:r>
              <a:rPr lang="en-IN" b="1" dirty="0">
                <a:latin typeface="Times New Roman" panose="02020603050405020304" pitchFamily="18" charset="0"/>
                <a:ea typeface="Calibri" panose="020F0502020204030204" pitchFamily="34" charset="0"/>
                <a:cs typeface="Times New Roman" panose="02020603050405020304" pitchFamily="18" charset="0"/>
              </a:rPr>
              <a:t>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b="1" dirty="0" smtClean="0">
                <a:latin typeface="Times New Roman" panose="02020603050405020304" pitchFamily="18" charset="0"/>
                <a:cs typeface="Times New Roman" panose="02020603050405020304" pitchFamily="18" charset="0"/>
              </a:rPr>
              <a:t>Rental </a:t>
            </a:r>
            <a:r>
              <a:rPr lang="en-US" sz="2000" b="1" dirty="0">
                <a:latin typeface="Times New Roman" panose="02020603050405020304" pitchFamily="18" charset="0"/>
                <a:cs typeface="Times New Roman" panose="02020603050405020304" pitchFamily="18" charset="0"/>
              </a:rPr>
              <a:t>House Price Prediction Using Machine </a:t>
            </a:r>
            <a:r>
              <a:rPr lang="en-US" sz="2000" b="1" dirty="0" smtClean="0">
                <a:latin typeface="Times New Roman" panose="02020603050405020304" pitchFamily="18" charset="0"/>
                <a:cs typeface="Times New Roman" panose="02020603050405020304" pitchFamily="18" charset="0"/>
              </a:rPr>
              <a:t>Learning</a:t>
            </a:r>
            <a:endParaRPr lang="en-US" sz="24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1" spc="-1" dirty="0" err="1" smtClean="0">
                <a:solidFill>
                  <a:srgbClr val="000000"/>
                </a:solidFill>
                <a:latin typeface="Times New Roman" panose="02020603050405020304" pitchFamily="18" charset="0"/>
                <a:ea typeface="MS PGothic"/>
                <a:cs typeface="Times New Roman" panose="02020603050405020304" pitchFamily="18" charset="0"/>
              </a:rPr>
              <a:t>Vanshika</a:t>
            </a:r>
            <a:endParaRPr lang="en-US" sz="2000" b="1"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smtClean="0">
                <a:solidFill>
                  <a:srgbClr val="000000"/>
                </a:solidFill>
                <a:latin typeface="Times New Roman" panose="02020603050405020304" pitchFamily="18" charset="0"/>
                <a:ea typeface="MS PGothic"/>
                <a:cs typeface="Times New Roman" panose="02020603050405020304" pitchFamily="18" charset="0"/>
              </a:rPr>
              <a:t>2210992506</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1" spc="-1" dirty="0" smtClean="0">
                <a:solidFill>
                  <a:srgbClr val="000000"/>
                </a:solidFill>
                <a:latin typeface="Times New Roman" panose="02020603050405020304" pitchFamily="18" charset="0"/>
                <a:ea typeface="MS PGothic"/>
                <a:cs typeface="Times New Roman" panose="02020603050405020304" pitchFamily="18" charset="0"/>
              </a:rPr>
              <a:t>Dr. Swati </a:t>
            </a:r>
            <a:r>
              <a:rPr lang="en-US" sz="2000" b="1" spc="-1" dirty="0" err="1" smtClean="0">
                <a:solidFill>
                  <a:srgbClr val="000000"/>
                </a:solidFill>
                <a:latin typeface="Times New Roman" panose="02020603050405020304" pitchFamily="18" charset="0"/>
                <a:ea typeface="MS PGothic"/>
                <a:cs typeface="Times New Roman" panose="02020603050405020304" pitchFamily="18" charset="0"/>
              </a:rPr>
              <a:t>Goel</a:t>
            </a:r>
            <a:endParaRPr lang="en-US" sz="2000" b="1"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400" spc="-1" dirty="0" smtClean="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smtClean="0">
                <a:latin typeface="Times New Roman" panose="02020603050405020304" pitchFamily="18" charset="0"/>
                <a:ea typeface="MS PGothic"/>
                <a:cs typeface="Times New Roman" panose="02020603050405020304" pitchFamily="18" charset="0"/>
              </a:rPr>
              <a:t>Department </a:t>
            </a:r>
            <a:r>
              <a:rPr lang="en-US" sz="2400" spc="-1" dirty="0">
                <a:latin typeface="Times New Roman" panose="02020603050405020304" pitchFamily="18" charset="0"/>
                <a:ea typeface="MS PGothic"/>
                <a:cs typeface="Times New Roman" panose="02020603050405020304" pitchFamily="18" charset="0"/>
              </a:rPr>
              <a:t>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70702"/>
            <a:ext cx="8838720" cy="4838571"/>
          </a:xfrm>
          <a:prstGeom prst="rect">
            <a:avLst/>
          </a:prstGeom>
          <a:noFill/>
          <a:ln w="9360">
            <a:noFill/>
          </a:ln>
        </p:spPr>
        <p:txBody>
          <a:bodyPr>
            <a:noAutofit/>
          </a:bodyPr>
          <a:lstStyle/>
          <a:p>
            <a:pPr>
              <a:lnSpc>
                <a:spcPct val="100000"/>
              </a:lnSpc>
              <a:spcBef>
                <a:spcPts val="400"/>
              </a:spcBef>
            </a:pPr>
            <a:r>
              <a:rPr lang="en-US" dirty="0"/>
              <a:t>India's residential rental market has grown rapidly due to urbanization, professional migration, and an expanding middle class. Cities like Mumbai, Delhi, and Bangalore see constantly fluctuating rents influenced by complex structural and locational factors. With the rise of online rental platforms, large volumes of structured property data are now available, making machine learning-based rental price prediction both feasible and highly valuable for tenants, landlords, and real estate professionals.</a:t>
            </a:r>
            <a:endParaRPr lang="en-US"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Problem Statement</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p:nvPr>
        </p:nvSpPr>
        <p:spPr>
          <a:xfrm>
            <a:off x="182880" y="1290320"/>
            <a:ext cx="8523880" cy="4555640"/>
          </a:xfrm>
        </p:spPr>
        <p:txBody>
          <a:bodyPr anchor="t"/>
          <a:lstStyle/>
          <a:p>
            <a:pPr marL="0" indent="0">
              <a:buNone/>
            </a:pPr>
            <a:r>
              <a:rPr lang="en-US" sz="1800" dirty="0"/>
              <a:t>Traditional rental price estimation relies heavily on real estate agents whose judgments are subjective, inconsistent, and often biased. Online listings frequently carry incorrect prices, and manual comparison of properties is time-consuming and error-prone. There is a clear need for a data-driven, automated system that can accurately predict rental prices based on property attributes, reducing human dependency and improving decision-making in the rental market.</a:t>
            </a:r>
          </a:p>
        </p:txBody>
      </p:sp>
    </p:spTree>
    <p:extLst>
      <p:ext uri="{BB962C8B-B14F-4D97-AF65-F5344CB8AC3E}">
        <p14:creationId xmlns:p14="http://schemas.microsoft.com/office/powerpoint/2010/main" val="399849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smtClean="0">
                <a:latin typeface="Times New Roman" panose="02020603050405020304" pitchFamily="18" charset="0"/>
                <a:cs typeface="Times New Roman" panose="02020603050405020304" pitchFamily="18" charset="0"/>
              </a:rPr>
              <a:t>Objectives</a:t>
            </a:r>
            <a:r>
              <a:rPr lang="en-US" sz="3200" dirty="0" smtClean="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p:nvPr>
        </p:nvSpPr>
        <p:spPr bwMode="auto">
          <a:xfrm>
            <a:off x="243840" y="1072788"/>
            <a:ext cx="854455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perform exploratory data analysis on Indian city rental data and identify key factors influencing rental prices.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build and systematically compare five machine learning regression models for rental price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apply domain-specific feature engineering and robust preprocessing techniques including IQR-based outlier removal.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optimize the best-performing model using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GridSearchCV</a:t>
            </a:r>
            <a:r>
              <a:rPr kumimoji="0" lang="en-US" altLang="en-US" sz="1800" b="0" i="0" u="none" strike="noStrike" cap="none" normalizeH="0" baseline="0" dirty="0" smtClean="0">
                <a:ln>
                  <a:noFill/>
                </a:ln>
                <a:solidFill>
                  <a:schemeClr val="tx1"/>
                </a:solidFill>
                <a:effectLst/>
                <a:latin typeface="Arial" panose="020B0604020202020204" pitchFamily="34" charset="0"/>
              </a:rPr>
              <a:t> with 5-fold cross-validation.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develop a functional prediction interface that provides real-time rent estimates based on user-input property details. </a:t>
            </a:r>
          </a:p>
        </p:txBody>
      </p:sp>
    </p:spTree>
    <p:extLst>
      <p:ext uri="{BB962C8B-B14F-4D97-AF65-F5344CB8AC3E}">
        <p14:creationId xmlns:p14="http://schemas.microsoft.com/office/powerpoint/2010/main" val="363747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Dataset</a:t>
            </a:r>
          </a:p>
        </p:txBody>
      </p:sp>
      <p:sp>
        <p:nvSpPr>
          <p:cNvPr id="4" name="Rectangle 1"/>
          <p:cNvSpPr>
            <a:spLocks noGrp="1" noChangeArrowheads="1"/>
          </p:cNvSpPr>
          <p:nvPr>
            <p:ph type="subTitle"/>
          </p:nvPr>
        </p:nvSpPr>
        <p:spPr bwMode="auto">
          <a:xfrm>
            <a:off x="233680" y="1403161"/>
            <a:ext cx="81381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Source:</a:t>
            </a:r>
            <a:r>
              <a:rPr kumimoji="0" lang="en-US" altLang="en-US" sz="1800" b="0" i="0" u="none" strike="noStrike" cap="none" normalizeH="0" baseline="0" dirty="0" smtClean="0">
                <a:ln>
                  <a:noFill/>
                </a:ln>
                <a:solidFill>
                  <a:schemeClr val="tx1"/>
                </a:solidFill>
                <a:effectLst/>
                <a:latin typeface="Arial" panose="020B0604020202020204" pitchFamily="34" charset="0"/>
              </a:rPr>
              <a:t> House Rent Dataset, </a:t>
            </a:r>
            <a:r>
              <a:rPr kumimoji="0" lang="en-US" altLang="en-US" sz="1800" b="0" i="0" u="none" strike="noStrike" cap="none" normalizeH="0" baseline="0" dirty="0" err="1" smtClean="0">
                <a:ln>
                  <a:noFill/>
                </a:ln>
                <a:solidFill>
                  <a:schemeClr val="tx1"/>
                </a:solidFill>
                <a:effectLst/>
                <a:latin typeface="Arial" panose="020B0604020202020204" pitchFamily="34" charset="0"/>
              </a:rPr>
              <a:t>Kaggle</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Size:</a:t>
            </a:r>
            <a:r>
              <a:rPr kumimoji="0" lang="en-US" altLang="en-US" sz="1800" b="0" i="0" u="none" strike="noStrike" cap="none" normalizeH="0" baseline="0" dirty="0" smtClean="0">
                <a:ln>
                  <a:noFill/>
                </a:ln>
                <a:solidFill>
                  <a:schemeClr val="tx1"/>
                </a:solidFill>
                <a:effectLst/>
                <a:latin typeface="Arial" panose="020B0604020202020204" pitchFamily="34" charset="0"/>
              </a:rPr>
              <a:t> 4,746 property listings across 6 Indian cities — Mumbai, Delhi, Bangalore, Kolkata, Chennai, Hyderabad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Features:</a:t>
            </a:r>
            <a:r>
              <a:rPr kumimoji="0" lang="en-US" altLang="en-US" sz="1800" b="0" i="0" u="none" strike="noStrike" cap="none" normalizeH="0" baseline="0" dirty="0" smtClean="0">
                <a:ln>
                  <a:noFill/>
                </a:ln>
                <a:solidFill>
                  <a:schemeClr val="tx1"/>
                </a:solidFill>
                <a:effectLst/>
                <a:latin typeface="Arial" panose="020B0604020202020204" pitchFamily="34" charset="0"/>
              </a:rPr>
              <a:t> 12 attributes including BHK, Size, Floor, City, Furnishing Status, Bathroom, Tenant Preferred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Target Variable:</a:t>
            </a:r>
            <a:r>
              <a:rPr kumimoji="0" lang="en-US" altLang="en-US" sz="1800" b="0" i="0" u="none" strike="noStrike" cap="none" normalizeH="0" baseline="0" dirty="0" smtClean="0">
                <a:ln>
                  <a:noFill/>
                </a:ln>
                <a:solidFill>
                  <a:schemeClr val="tx1"/>
                </a:solidFill>
                <a:effectLst/>
                <a:latin typeface="Arial" panose="020B0604020202020204" pitchFamily="34" charset="0"/>
              </a:rPr>
              <a:t> Monthly Rent (</a:t>
            </a:r>
            <a:r>
              <a:rPr kumimoji="0" lang="en-US" altLang="en-US" sz="1800" b="0" i="0" u="none" strike="noStrike" cap="none" normalizeH="0" baseline="0" dirty="0" err="1" smtClean="0">
                <a:ln>
                  <a:noFill/>
                </a:ln>
                <a:solidFill>
                  <a:schemeClr val="tx1"/>
                </a:solidFill>
                <a:effectLst/>
                <a:latin typeface="Arial" panose="020B0604020202020204" pitchFamily="34" charset="0"/>
              </a:rPr>
              <a:t>Rs</a:t>
            </a:r>
            <a:r>
              <a:rPr kumimoji="0" lang="en-US" altLang="en-US" sz="1800" b="0" i="0" u="none" strike="noStrike" cap="none" normalizeH="0" baseline="0" dirty="0" smtClean="0">
                <a:ln>
                  <a:noFill/>
                </a:ln>
                <a:solidFill>
                  <a:schemeClr val="tx1"/>
                </a:solidFill>
                <a:effectLst/>
                <a:latin typeface="Arial" panose="020B0604020202020204" pitchFamily="34" charset="0"/>
              </a:rPr>
              <a:t>. 1,200 – </a:t>
            </a:r>
            <a:r>
              <a:rPr kumimoji="0" lang="en-US" altLang="en-US" sz="1800" b="0" i="0" u="none" strike="noStrike" cap="none" normalizeH="0" baseline="0" dirty="0" err="1" smtClean="0">
                <a:ln>
                  <a:noFill/>
                </a:ln>
                <a:solidFill>
                  <a:schemeClr val="tx1"/>
                </a:solidFill>
                <a:effectLst/>
                <a:latin typeface="Arial" panose="020B0604020202020204" pitchFamily="34" charset="0"/>
              </a:rPr>
              <a:t>Rs</a:t>
            </a:r>
            <a:r>
              <a:rPr kumimoji="0" lang="en-US" altLang="en-US" sz="1800" b="0" i="0" u="none" strike="noStrike" cap="none" normalizeH="0" baseline="0" dirty="0" smtClean="0">
                <a:ln>
                  <a:noFill/>
                </a:ln>
                <a:solidFill>
                  <a:schemeClr val="tx1"/>
                </a:solidFill>
                <a:effectLst/>
                <a:latin typeface="Arial" panose="020B0604020202020204" pitchFamily="34" charset="0"/>
              </a:rPr>
              <a:t>. 35,00,000)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Preprocessing:</a:t>
            </a:r>
            <a:r>
              <a:rPr kumimoji="0" lang="en-US" altLang="en-US" sz="1800" b="0" i="0" u="none" strike="noStrike" cap="none" normalizeH="0" baseline="0" dirty="0" smtClean="0">
                <a:ln>
                  <a:noFill/>
                </a:ln>
                <a:solidFill>
                  <a:schemeClr val="tx1"/>
                </a:solidFill>
                <a:effectLst/>
                <a:latin typeface="Arial" panose="020B0604020202020204" pitchFamily="34" charset="0"/>
              </a:rPr>
              <a:t> IQR outlier removal, Label Encoding, Feature Engineering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FloorNumber</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TotalFloors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PostedMonth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65077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smtClean="0">
                <a:latin typeface="Times New Roman" panose="02020603050405020304" pitchFamily="18" charset="0"/>
                <a:cs typeface="Times New Roman" panose="02020603050405020304" pitchFamily="18" charset="0"/>
              </a:rPr>
              <a:t>Correlation </a:t>
            </a:r>
            <a:r>
              <a:rPr lang="en-US" sz="3200" b="1" dirty="0" err="1" smtClean="0">
                <a:latin typeface="Times New Roman" panose="02020603050405020304" pitchFamily="18" charset="0"/>
                <a:cs typeface="Times New Roman" panose="02020603050405020304" pitchFamily="18" charset="0"/>
              </a:rPr>
              <a:t>Heatmap</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p:nvPr>
        </p:nvSpPr>
        <p:spPr>
          <a:xfrm>
            <a:off x="132080" y="1045720"/>
            <a:ext cx="8818880" cy="5466840"/>
          </a:xfrm>
        </p:spPr>
        <p:txBody>
          <a:bodyPr/>
          <a:lstStyle/>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0556" y="1391920"/>
            <a:ext cx="5724804" cy="5091700"/>
          </a:xfrm>
          <a:prstGeom prst="rect">
            <a:avLst/>
          </a:prstGeom>
        </p:spPr>
      </p:pic>
    </p:spTree>
    <p:extLst>
      <p:ext uri="{BB962C8B-B14F-4D97-AF65-F5344CB8AC3E}">
        <p14:creationId xmlns:p14="http://schemas.microsoft.com/office/powerpoint/2010/main" val="370260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Models Used</a:t>
            </a:r>
          </a:p>
        </p:txBody>
      </p:sp>
      <p:sp>
        <p:nvSpPr>
          <p:cNvPr id="4" name="Rectangle 1"/>
          <p:cNvSpPr>
            <a:spLocks noGrp="1" noChangeArrowheads="1"/>
          </p:cNvSpPr>
          <p:nvPr>
            <p:ph type="body"/>
          </p:nvPr>
        </p:nvSpPr>
        <p:spPr bwMode="auto">
          <a:xfrm>
            <a:off x="314960" y="1236049"/>
            <a:ext cx="8128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Linear Regression</a:t>
            </a:r>
            <a:r>
              <a:rPr kumimoji="0" lang="en-US" altLang="en-US" sz="1800" b="0" i="0" u="none" strike="noStrike" cap="none" normalizeH="0" baseline="0" dirty="0" smtClean="0">
                <a:ln>
                  <a:noFill/>
                </a:ln>
                <a:solidFill>
                  <a:schemeClr val="tx1"/>
                </a:solidFill>
                <a:effectLst/>
                <a:latin typeface="Arial" panose="020B0604020202020204" pitchFamily="34" charset="0"/>
              </a:rPr>
              <a:t> — Baseline model assuming a linear relationship between features and rent; scaled using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StandardScaler</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Decision Tree </a:t>
            </a:r>
            <a:r>
              <a:rPr kumimoji="0" lang="en-US" altLang="en-US" sz="1800" b="1" i="0" u="none" strike="noStrike" cap="none" normalizeH="0" baseline="0" dirty="0" err="1" smtClean="0">
                <a:ln>
                  <a:noFill/>
                </a:ln>
                <a:solidFill>
                  <a:schemeClr val="tx1"/>
                </a:solidFill>
                <a:effectLst/>
                <a:latin typeface="Arial" panose="020B0604020202020204" pitchFamily="34" charset="0"/>
              </a:rPr>
              <a:t>Regressor</a:t>
            </a:r>
            <a:r>
              <a:rPr kumimoji="0" lang="en-US" altLang="en-US" sz="1800" b="0" i="0" u="none" strike="noStrike" cap="none" normalizeH="0" baseline="0" dirty="0" smtClean="0">
                <a:ln>
                  <a:noFill/>
                </a:ln>
                <a:solidFill>
                  <a:schemeClr val="tx1"/>
                </a:solidFill>
                <a:effectLst/>
                <a:latin typeface="Arial" panose="020B0604020202020204" pitchFamily="34" charset="0"/>
              </a:rPr>
              <a:t> — Rule-based model splitting data on feature conditions; controlled with </a:t>
            </a:r>
            <a:r>
              <a:rPr kumimoji="0" lang="en-US" altLang="en-US" sz="1800" b="0" i="0" u="none" strike="noStrike" cap="none" normalizeH="0" baseline="0" dirty="0" err="1" smtClean="0">
                <a:ln>
                  <a:noFill/>
                </a:ln>
                <a:solidFill>
                  <a:schemeClr val="tx1"/>
                </a:solidFill>
                <a:effectLst/>
                <a:latin typeface="Arial" panose="020B0604020202020204" pitchFamily="34" charset="0"/>
              </a:rPr>
              <a:t>max_depth</a:t>
            </a:r>
            <a:r>
              <a:rPr kumimoji="0" lang="en-US" altLang="en-US" sz="1800" b="0" i="0" u="none" strike="noStrike" cap="none" normalizeH="0" baseline="0" dirty="0" smtClean="0">
                <a:ln>
                  <a:noFill/>
                </a:ln>
                <a:solidFill>
                  <a:schemeClr val="tx1"/>
                </a:solidFill>
                <a:effectLst/>
                <a:latin typeface="Arial" panose="020B0604020202020204" pitchFamily="34" charset="0"/>
              </a:rPr>
              <a:t>=10 to avoid overfitting.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Random Forest </a:t>
            </a:r>
            <a:r>
              <a:rPr kumimoji="0" lang="en-US" altLang="en-US" sz="1800" b="1" i="0" u="none" strike="noStrike" cap="none" normalizeH="0" baseline="0" dirty="0" err="1" smtClean="0">
                <a:ln>
                  <a:noFill/>
                </a:ln>
                <a:solidFill>
                  <a:schemeClr val="tx1"/>
                </a:solidFill>
                <a:effectLst/>
                <a:latin typeface="Arial" panose="020B0604020202020204" pitchFamily="34" charset="0"/>
              </a:rPr>
              <a:t>Regressor</a:t>
            </a:r>
            <a:r>
              <a:rPr kumimoji="0" lang="en-US" altLang="en-US" sz="1800" b="0" i="0" u="none" strike="noStrike" cap="none" normalizeH="0" baseline="0" dirty="0" smtClean="0">
                <a:ln>
                  <a:noFill/>
                </a:ln>
                <a:solidFill>
                  <a:schemeClr val="tx1"/>
                </a:solidFill>
                <a:effectLst/>
                <a:latin typeface="Arial" panose="020B0604020202020204" pitchFamily="34" charset="0"/>
              </a:rPr>
              <a:t> — Ensemble of 200 decision trees trained on bootstrap samples; predictions averaged for robustness.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Gradient Boosting </a:t>
            </a:r>
            <a:r>
              <a:rPr kumimoji="0" lang="en-US" altLang="en-US" sz="1800" b="1" i="0" u="none" strike="noStrike" cap="none" normalizeH="0" baseline="0" dirty="0" err="1" smtClean="0">
                <a:ln>
                  <a:noFill/>
                </a:ln>
                <a:solidFill>
                  <a:schemeClr val="tx1"/>
                </a:solidFill>
                <a:effectLst/>
                <a:latin typeface="Arial" panose="020B0604020202020204" pitchFamily="34" charset="0"/>
              </a:rPr>
              <a:t>Regressor</a:t>
            </a:r>
            <a:r>
              <a:rPr kumimoji="0" lang="en-US" altLang="en-US" sz="1800" b="0" i="0" u="none" strike="noStrike" cap="none" normalizeH="0" baseline="0" dirty="0" smtClean="0">
                <a:ln>
                  <a:noFill/>
                </a:ln>
                <a:solidFill>
                  <a:schemeClr val="tx1"/>
                </a:solidFill>
                <a:effectLst/>
                <a:latin typeface="Arial" panose="020B0604020202020204" pitchFamily="34" charset="0"/>
              </a:rPr>
              <a:t> — Sequential ensemble where each tree corrects errors of the previous; 200 estimators with learning rate 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XGBoost</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err="1" smtClean="0">
                <a:ln>
                  <a:noFill/>
                </a:ln>
                <a:solidFill>
                  <a:schemeClr val="tx1"/>
                </a:solidFill>
                <a:effectLst/>
                <a:latin typeface="Arial" panose="020B0604020202020204" pitchFamily="34" charset="0"/>
              </a:rPr>
              <a:t>Regressor</a:t>
            </a:r>
            <a:r>
              <a:rPr kumimoji="0" lang="en-US" altLang="en-US" sz="1800" b="0" i="0" u="none" strike="noStrike" cap="none" normalizeH="0" baseline="0" dirty="0" smtClean="0">
                <a:ln>
                  <a:noFill/>
                </a:ln>
                <a:solidFill>
                  <a:schemeClr val="tx1"/>
                </a:solidFill>
                <a:effectLst/>
                <a:latin typeface="Arial" panose="020B0604020202020204" pitchFamily="34" charset="0"/>
              </a:rPr>
              <a:t> — Optimized gradient boosting with L1/L2 regularization and parallel computation for faster, more generalized predictions. </a:t>
            </a:r>
          </a:p>
        </p:txBody>
      </p:sp>
    </p:spTree>
    <p:extLst>
      <p:ext uri="{BB962C8B-B14F-4D97-AF65-F5344CB8AC3E}">
        <p14:creationId xmlns:p14="http://schemas.microsoft.com/office/powerpoint/2010/main" val="2525497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Results</a:t>
            </a:r>
          </a:p>
        </p:txBody>
      </p:sp>
      <p:sp>
        <p:nvSpPr>
          <p:cNvPr id="3" name="Subtitle 2"/>
          <p:cNvSpPr>
            <a:spLocks noGrp="1"/>
          </p:cNvSpPr>
          <p:nvPr>
            <p:ph type="subTitle"/>
          </p:nvPr>
        </p:nvSpPr>
        <p:spPr>
          <a:xfrm>
            <a:off x="142240" y="995680"/>
            <a:ext cx="8544200" cy="4586120"/>
          </a:xfrm>
        </p:spPr>
        <p:txBody>
          <a:bodyPr anchor="t"/>
          <a:lstStyle/>
          <a:p>
            <a:pPr marL="0" indent="0">
              <a:buNone/>
            </a:pPr>
            <a:endParaRPr lang="en-US" sz="1800" dirty="0" smtClean="0"/>
          </a:p>
          <a:p>
            <a:pPr marL="0" indent="0">
              <a:buNone/>
            </a:pPr>
            <a:r>
              <a:rPr lang="en-US" sz="1800" dirty="0" smtClean="0"/>
              <a:t>Random </a:t>
            </a:r>
            <a:r>
              <a:rPr lang="en-US" sz="1800" dirty="0"/>
              <a:t>Forest achieved the best performance with R² = 0.74, RMSE = </a:t>
            </a:r>
            <a:r>
              <a:rPr lang="en-US" sz="1800" dirty="0" err="1"/>
              <a:t>Rs</a:t>
            </a:r>
            <a:r>
              <a:rPr lang="en-US" sz="1800" dirty="0"/>
              <a:t>. 7,020, and MAE = </a:t>
            </a:r>
            <a:r>
              <a:rPr lang="en-US" sz="1800" dirty="0" err="1"/>
              <a:t>Rs</a:t>
            </a:r>
            <a:r>
              <a:rPr lang="en-US" sz="1800" dirty="0"/>
              <a:t>. 4,710. Ensemble models clearly outperformed Linear Regression (R² = 0.62). After </a:t>
            </a:r>
            <a:r>
              <a:rPr lang="en-US" sz="1800" dirty="0" err="1"/>
              <a:t>hyperparameter</a:t>
            </a:r>
            <a:r>
              <a:rPr lang="en-US" sz="1800" dirty="0"/>
              <a:t> tuning via </a:t>
            </a:r>
            <a:r>
              <a:rPr lang="en-US" sz="1800" dirty="0" err="1"/>
              <a:t>GridSearchCV</a:t>
            </a:r>
            <a:r>
              <a:rPr lang="en-US" sz="1800" dirty="0"/>
              <a:t>, the cross-validation R² reached 0.86. City and Size were identified as the top two features, contributing over 45% of predictive power</a:t>
            </a:r>
            <a:r>
              <a:rPr lang="en-US" sz="1800" dirty="0" smtClean="0"/>
              <a:t>.</a:t>
            </a:r>
          </a:p>
          <a:p>
            <a:endParaRPr lang="en-US" sz="1800" dirty="0"/>
          </a:p>
        </p:txBody>
      </p:sp>
      <p:graphicFrame>
        <p:nvGraphicFramePr>
          <p:cNvPr id="4" name="Table 3"/>
          <p:cNvGraphicFramePr>
            <a:graphicFrameLocks noGrp="1"/>
          </p:cNvGraphicFramePr>
          <p:nvPr>
            <p:extLst>
              <p:ext uri="{D42A27DB-BD31-4B8C-83A1-F6EECF244321}">
                <p14:modId xmlns:p14="http://schemas.microsoft.com/office/powerpoint/2010/main" val="1355666787"/>
              </p:ext>
            </p:extLst>
          </p:nvPr>
        </p:nvGraphicFramePr>
        <p:xfrm>
          <a:off x="1188720" y="2955040"/>
          <a:ext cx="6096000" cy="24942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120382129"/>
                    </a:ext>
                  </a:extLst>
                </a:gridCol>
                <a:gridCol w="2032000">
                  <a:extLst>
                    <a:ext uri="{9D8B030D-6E8A-4147-A177-3AD203B41FA5}">
                      <a16:colId xmlns:a16="http://schemas.microsoft.com/office/drawing/2014/main" val="1473275757"/>
                    </a:ext>
                  </a:extLst>
                </a:gridCol>
                <a:gridCol w="2032000">
                  <a:extLst>
                    <a:ext uri="{9D8B030D-6E8A-4147-A177-3AD203B41FA5}">
                      <a16:colId xmlns:a16="http://schemas.microsoft.com/office/drawing/2014/main" val="1047413770"/>
                    </a:ext>
                  </a:extLst>
                </a:gridCol>
              </a:tblGrid>
              <a:tr h="370840">
                <a:tc>
                  <a:txBody>
                    <a:bodyPr/>
                    <a:lstStyle/>
                    <a:p>
                      <a:r>
                        <a:rPr lang="en-US" dirty="0" smtClean="0"/>
                        <a:t>Model</a:t>
                      </a:r>
                      <a:endParaRPr lang="en-US" dirty="0"/>
                    </a:p>
                  </a:txBody>
                  <a:tcPr/>
                </a:tc>
                <a:tc>
                  <a:txBody>
                    <a:bodyPr/>
                    <a:lstStyle/>
                    <a:p>
                      <a:r>
                        <a:rPr lang="en-US" dirty="0" smtClean="0"/>
                        <a:t>R² Score</a:t>
                      </a:r>
                      <a:endParaRPr lang="en-US" dirty="0"/>
                    </a:p>
                  </a:txBody>
                  <a:tcPr/>
                </a:tc>
                <a:tc>
                  <a:txBody>
                    <a:bodyPr/>
                    <a:lstStyle/>
                    <a:p>
                      <a:r>
                        <a:rPr lang="en-US" dirty="0" smtClean="0"/>
                        <a:t>RMSE (</a:t>
                      </a:r>
                      <a:r>
                        <a:rPr lang="en-US" dirty="0" err="1" smtClean="0"/>
                        <a:t>Rs</a:t>
                      </a:r>
                      <a:r>
                        <a:rPr lang="en-US" dirty="0" smtClean="0"/>
                        <a:t>)</a:t>
                      </a:r>
                      <a:endParaRPr lang="en-US" dirty="0"/>
                    </a:p>
                  </a:txBody>
                  <a:tcPr/>
                </a:tc>
                <a:extLst>
                  <a:ext uri="{0D108BD9-81ED-4DB2-BD59-A6C34878D82A}">
                    <a16:rowId xmlns:a16="http://schemas.microsoft.com/office/drawing/2014/main" val="1649537388"/>
                  </a:ext>
                </a:extLst>
              </a:tr>
              <a:tr h="0">
                <a:tc>
                  <a:txBody>
                    <a:bodyPr/>
                    <a:lstStyle/>
                    <a:p>
                      <a:r>
                        <a:rPr lang="en-US" dirty="0" smtClean="0"/>
                        <a:t>Linear Regression</a:t>
                      </a:r>
                      <a:endParaRPr lang="en-US" dirty="0"/>
                    </a:p>
                  </a:txBody>
                  <a:tcPr/>
                </a:tc>
                <a:tc>
                  <a:txBody>
                    <a:bodyPr/>
                    <a:lstStyle/>
                    <a:p>
                      <a:r>
                        <a:rPr lang="en-US" dirty="0" smtClean="0"/>
                        <a:t>0.6162</a:t>
                      </a:r>
                      <a:endParaRPr lang="en-US" dirty="0"/>
                    </a:p>
                  </a:txBody>
                  <a:tcPr/>
                </a:tc>
                <a:tc>
                  <a:txBody>
                    <a:bodyPr/>
                    <a:lstStyle/>
                    <a:p>
                      <a:r>
                        <a:rPr lang="en-US" dirty="0" smtClean="0"/>
                        <a:t>8,578</a:t>
                      </a:r>
                      <a:endParaRPr lang="en-US" dirty="0"/>
                    </a:p>
                  </a:txBody>
                  <a:tcPr/>
                </a:tc>
                <a:extLst>
                  <a:ext uri="{0D108BD9-81ED-4DB2-BD59-A6C34878D82A}">
                    <a16:rowId xmlns:a16="http://schemas.microsoft.com/office/drawing/2014/main" val="2195860892"/>
                  </a:ext>
                </a:extLst>
              </a:tr>
              <a:tr h="370840">
                <a:tc>
                  <a:txBody>
                    <a:bodyPr/>
                    <a:lstStyle/>
                    <a:p>
                      <a:r>
                        <a:rPr lang="en-US" dirty="0" smtClean="0"/>
                        <a:t>Decision Tree</a:t>
                      </a:r>
                      <a:endParaRPr lang="en-US" dirty="0"/>
                    </a:p>
                  </a:txBody>
                  <a:tcPr/>
                </a:tc>
                <a:tc>
                  <a:txBody>
                    <a:bodyPr/>
                    <a:lstStyle/>
                    <a:p>
                      <a:r>
                        <a:rPr lang="en-US" dirty="0" smtClean="0"/>
                        <a:t>0.6835</a:t>
                      </a:r>
                      <a:endParaRPr lang="en-US" dirty="0"/>
                    </a:p>
                  </a:txBody>
                  <a:tcPr/>
                </a:tc>
                <a:tc>
                  <a:txBody>
                    <a:bodyPr/>
                    <a:lstStyle/>
                    <a:p>
                      <a:r>
                        <a:rPr lang="en-US" dirty="0" smtClean="0"/>
                        <a:t>7,790</a:t>
                      </a:r>
                      <a:endParaRPr lang="en-US" dirty="0"/>
                    </a:p>
                  </a:txBody>
                  <a:tcPr/>
                </a:tc>
                <a:extLst>
                  <a:ext uri="{0D108BD9-81ED-4DB2-BD59-A6C34878D82A}">
                    <a16:rowId xmlns:a16="http://schemas.microsoft.com/office/drawing/2014/main" val="315159202"/>
                  </a:ext>
                </a:extLst>
              </a:tr>
              <a:tr h="370840">
                <a:tc>
                  <a:txBody>
                    <a:bodyPr/>
                    <a:lstStyle/>
                    <a:p>
                      <a:r>
                        <a:rPr lang="en-US" dirty="0" smtClean="0"/>
                        <a:t>Random Forest</a:t>
                      </a:r>
                      <a:endParaRPr lang="en-US" dirty="0"/>
                    </a:p>
                  </a:txBody>
                  <a:tcPr/>
                </a:tc>
                <a:tc>
                  <a:txBody>
                    <a:bodyPr/>
                    <a:lstStyle/>
                    <a:p>
                      <a:r>
                        <a:rPr lang="en-US" dirty="0" smtClean="0"/>
                        <a:t>0.7430</a:t>
                      </a:r>
                      <a:endParaRPr lang="en-US" dirty="0"/>
                    </a:p>
                  </a:txBody>
                  <a:tcPr/>
                </a:tc>
                <a:tc>
                  <a:txBody>
                    <a:bodyPr/>
                    <a:lstStyle/>
                    <a:p>
                      <a:r>
                        <a:rPr lang="en-US" dirty="0" smtClean="0"/>
                        <a:t>7,020</a:t>
                      </a:r>
                      <a:endParaRPr lang="en-US" dirty="0"/>
                    </a:p>
                  </a:txBody>
                  <a:tcPr/>
                </a:tc>
                <a:extLst>
                  <a:ext uri="{0D108BD9-81ED-4DB2-BD59-A6C34878D82A}">
                    <a16:rowId xmlns:a16="http://schemas.microsoft.com/office/drawing/2014/main" val="871205569"/>
                  </a:ext>
                </a:extLst>
              </a:tr>
              <a:tr h="370840">
                <a:tc>
                  <a:txBody>
                    <a:bodyPr/>
                    <a:lstStyle/>
                    <a:p>
                      <a:r>
                        <a:rPr lang="en-US" dirty="0" smtClean="0"/>
                        <a:t>Gradient Boosting</a:t>
                      </a:r>
                      <a:endParaRPr lang="en-US" dirty="0"/>
                    </a:p>
                  </a:txBody>
                  <a:tcPr/>
                </a:tc>
                <a:tc>
                  <a:txBody>
                    <a:bodyPr/>
                    <a:lstStyle/>
                    <a:p>
                      <a:r>
                        <a:rPr lang="en-US" dirty="0" smtClean="0"/>
                        <a:t>0.7339</a:t>
                      </a:r>
                      <a:endParaRPr lang="en-US" dirty="0"/>
                    </a:p>
                  </a:txBody>
                  <a:tcPr/>
                </a:tc>
                <a:tc>
                  <a:txBody>
                    <a:bodyPr/>
                    <a:lstStyle/>
                    <a:p>
                      <a:r>
                        <a:rPr lang="en-US" dirty="0" smtClean="0"/>
                        <a:t>7,143</a:t>
                      </a:r>
                      <a:endParaRPr lang="en-US" dirty="0"/>
                    </a:p>
                  </a:txBody>
                  <a:tcPr/>
                </a:tc>
                <a:extLst>
                  <a:ext uri="{0D108BD9-81ED-4DB2-BD59-A6C34878D82A}">
                    <a16:rowId xmlns:a16="http://schemas.microsoft.com/office/drawing/2014/main" val="2920893760"/>
                  </a:ext>
                </a:extLst>
              </a:tr>
              <a:tr h="370840">
                <a:tc>
                  <a:txBody>
                    <a:bodyPr/>
                    <a:lstStyle/>
                    <a:p>
                      <a:r>
                        <a:rPr lang="en-US" dirty="0" err="1" smtClean="0"/>
                        <a:t>XGBoost</a:t>
                      </a:r>
                      <a:endParaRPr lang="en-US" dirty="0"/>
                    </a:p>
                  </a:txBody>
                  <a:tcPr/>
                </a:tc>
                <a:tc>
                  <a:txBody>
                    <a:bodyPr/>
                    <a:lstStyle/>
                    <a:p>
                      <a:r>
                        <a:rPr lang="en-US" dirty="0" smtClean="0"/>
                        <a:t>0.7225</a:t>
                      </a:r>
                      <a:endParaRPr lang="en-US" dirty="0"/>
                    </a:p>
                  </a:txBody>
                  <a:tcPr/>
                </a:tc>
                <a:tc>
                  <a:txBody>
                    <a:bodyPr/>
                    <a:lstStyle/>
                    <a:p>
                      <a:r>
                        <a:rPr lang="en-US" dirty="0" smtClean="0"/>
                        <a:t>7,295</a:t>
                      </a:r>
                      <a:endParaRPr lang="en-US" dirty="0"/>
                    </a:p>
                  </a:txBody>
                  <a:tcPr/>
                </a:tc>
                <a:extLst>
                  <a:ext uri="{0D108BD9-81ED-4DB2-BD59-A6C34878D82A}">
                    <a16:rowId xmlns:a16="http://schemas.microsoft.com/office/drawing/2014/main" val="3493733139"/>
                  </a:ext>
                </a:extLst>
              </a:tr>
            </a:tbl>
          </a:graphicData>
        </a:graphic>
      </p:graphicFrame>
    </p:spTree>
    <p:extLst>
      <p:ext uri="{BB962C8B-B14F-4D97-AF65-F5344CB8AC3E}">
        <p14:creationId xmlns:p14="http://schemas.microsoft.com/office/powerpoint/2010/main" val="2873907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Applications</a:t>
            </a: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subTitle"/>
          </p:nvPr>
        </p:nvSpPr>
        <p:spPr bwMode="auto">
          <a:xfrm>
            <a:off x="325120" y="1233531"/>
            <a:ext cx="842264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 Tenants</a:t>
            </a:r>
            <a:r>
              <a:rPr kumimoji="0" lang="en-US" altLang="en-US" sz="1800" b="0" i="0" u="none" strike="noStrike" cap="none" normalizeH="0" baseline="0" dirty="0" smtClean="0">
                <a:ln>
                  <a:noFill/>
                </a:ln>
                <a:solidFill>
                  <a:schemeClr val="tx1"/>
                </a:solidFill>
                <a:effectLst/>
                <a:latin typeface="Arial" panose="020B0604020202020204" pitchFamily="34" charset="0"/>
              </a:rPr>
              <a:t> — Helps renters quickly verify whether a listed price is fair before negotiating or signing a lease.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 Landlords</a:t>
            </a:r>
            <a:r>
              <a:rPr kumimoji="0" lang="en-US" altLang="en-US" sz="1800" b="0" i="0" u="none" strike="noStrike" cap="none" normalizeH="0" baseline="0" dirty="0" smtClean="0">
                <a:ln>
                  <a:noFill/>
                </a:ln>
                <a:solidFill>
                  <a:schemeClr val="tx1"/>
                </a:solidFill>
                <a:effectLst/>
                <a:latin typeface="Arial" panose="020B0604020202020204" pitchFamily="34" charset="0"/>
              </a:rPr>
              <a:t> — Enables property owners to set competitive and data-driven rental prices without relying on agent opinions.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 Real Estate Portals</a:t>
            </a:r>
            <a:r>
              <a:rPr kumimoji="0" lang="en-US" altLang="en-US" sz="1800" b="0" i="0" u="none" strike="noStrike" cap="none" normalizeH="0" baseline="0" dirty="0" smtClean="0">
                <a:ln>
                  <a:noFill/>
                </a:ln>
                <a:solidFill>
                  <a:schemeClr val="tx1"/>
                </a:solidFill>
                <a:effectLst/>
                <a:latin typeface="Arial" panose="020B0604020202020204" pitchFamily="34" charset="0"/>
              </a:rPr>
              <a:t> — Can be integrated into listing platforms to auto-suggest price ranges for new property postings.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 Property Investors</a:t>
            </a:r>
            <a:r>
              <a:rPr kumimoji="0" lang="en-US" altLang="en-US" sz="1800" b="0" i="0" u="none" strike="noStrike" cap="none" normalizeH="0" baseline="0" dirty="0" smtClean="0">
                <a:ln>
                  <a:noFill/>
                </a:ln>
                <a:solidFill>
                  <a:schemeClr val="tx1"/>
                </a:solidFill>
                <a:effectLst/>
                <a:latin typeface="Arial" panose="020B0604020202020204" pitchFamily="34" charset="0"/>
              </a:rPr>
              <a:t> — Assists investors in identifying undervalued rental properties across cities for better returns.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 Government &amp; Urban Planners</a:t>
            </a:r>
            <a:r>
              <a:rPr kumimoji="0" lang="en-US" altLang="en-US" sz="1800" b="0" i="0" u="none" strike="noStrike" cap="none" normalizeH="0" baseline="0" dirty="0" smtClean="0">
                <a:ln>
                  <a:noFill/>
                </a:ln>
                <a:solidFill>
                  <a:schemeClr val="tx1"/>
                </a:solidFill>
                <a:effectLst/>
                <a:latin typeface="Arial" panose="020B0604020202020204" pitchFamily="34" charset="0"/>
              </a:rPr>
              <a:t> — Provides insights into city-wise rental trends useful for housing policy and urban development planning. </a:t>
            </a:r>
          </a:p>
        </p:txBody>
      </p:sp>
    </p:spTree>
    <p:extLst>
      <p:ext uri="{BB962C8B-B14F-4D97-AF65-F5344CB8AC3E}">
        <p14:creationId xmlns:p14="http://schemas.microsoft.com/office/powerpoint/2010/main" val="3061150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p:nvPr>
        </p:nvSpPr>
        <p:spPr/>
        <p:txBody>
          <a:bodyPr anchor="t"/>
          <a:lstStyle/>
          <a:p>
            <a:pPr marL="0" indent="0">
              <a:buNone/>
            </a:pPr>
            <a:r>
              <a:rPr lang="en-US" sz="1800" dirty="0"/>
              <a:t>This project successfully built and compared five ML regression models for Indian rental price prediction. The tuned Random Forest model with R² = 0.74 proved most reliable. The system demonstrated that data-driven approaches can effectively replace subjective agent-based estimation, offering accurate and scalable predictions for real-world use.</a:t>
            </a:r>
          </a:p>
        </p:txBody>
      </p:sp>
    </p:spTree>
    <p:extLst>
      <p:ext uri="{BB962C8B-B14F-4D97-AF65-F5344CB8AC3E}">
        <p14:creationId xmlns:p14="http://schemas.microsoft.com/office/powerpoint/2010/main" val="1576489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Future</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Scope</a:t>
            </a:r>
          </a:p>
        </p:txBody>
      </p:sp>
      <p:sp>
        <p:nvSpPr>
          <p:cNvPr id="4" name="Rectangle 1"/>
          <p:cNvSpPr>
            <a:spLocks noGrp="1" noChangeArrowheads="1"/>
          </p:cNvSpPr>
          <p:nvPr>
            <p:ph type="subTitle"/>
          </p:nvPr>
        </p:nvSpPr>
        <p:spPr bwMode="auto">
          <a:xfrm>
            <a:off x="182880" y="1226837"/>
            <a:ext cx="882904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Incorporate location-based features like proximity to schools, hospitals, and public transport to improve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Expand the dataset to cover more Indian cities and recent listings for better temporal and geographic generalization.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Explore deep learning models such as neural networks or transformer-based architectures for further performance gains.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Deploy the system as a public web application using Flask or </a:t>
            </a:r>
            <a:r>
              <a:rPr kumimoji="0" lang="en-US" altLang="en-US" sz="18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1800" b="0" i="0" u="none" strike="noStrike" cap="none" normalizeH="0" baseline="0" dirty="0" smtClean="0">
                <a:ln>
                  <a:noFill/>
                </a:ln>
                <a:solidFill>
                  <a:schemeClr val="tx1"/>
                </a:solidFill>
                <a:effectLst/>
                <a:latin typeface="Arial" panose="020B0604020202020204" pitchFamily="34" charset="0"/>
              </a:rPr>
              <a:t> for wider accessibility. </a:t>
            </a:r>
          </a:p>
        </p:txBody>
      </p:sp>
    </p:spTree>
    <p:extLst>
      <p:ext uri="{BB962C8B-B14F-4D97-AF65-F5344CB8AC3E}">
        <p14:creationId xmlns:p14="http://schemas.microsoft.com/office/powerpoint/2010/main" val="164757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r>
              <a:rPr lang="en-US" sz="3200" dirty="0">
                <a:latin typeface="Times New Roman" panose="02020603050405020304" pitchFamily="18" charset="0"/>
                <a:cs typeface="Times New Roman" panose="02020603050405020304" pitchFamily="18" charset="0"/>
              </a:rPr>
              <a:t> </a:t>
            </a:r>
          </a:p>
        </p:txBody>
      </p:sp>
      <p:sp>
        <p:nvSpPr>
          <p:cNvPr id="3" name="Subtitle 2"/>
          <p:cNvSpPr>
            <a:spLocks noGrp="1"/>
          </p:cNvSpPr>
          <p:nvPr>
            <p:ph type="subTitle"/>
          </p:nvPr>
        </p:nvSpPr>
        <p:spPr/>
        <p:txBody>
          <a:bodyPr anchor="t"/>
          <a:lstStyle/>
          <a:p>
            <a:pPr marL="0" indent="0">
              <a:buNone/>
            </a:pPr>
            <a:r>
              <a:rPr lang="en-US" sz="1600" dirty="0"/>
              <a:t>[1] </a:t>
            </a:r>
            <a:r>
              <a:rPr lang="en-US" sz="1600" dirty="0" err="1"/>
              <a:t>Sirmans</a:t>
            </a:r>
            <a:r>
              <a:rPr lang="en-US" sz="1600" dirty="0"/>
              <a:t> et al., "The composition of hedonic pricing models," Journal of Real Estate Literature, 2005. </a:t>
            </a:r>
          </a:p>
          <a:p>
            <a:pPr marL="0" indent="0">
              <a:buNone/>
            </a:pPr>
            <a:r>
              <a:rPr lang="en-US" sz="1600" dirty="0" smtClean="0"/>
              <a:t>[</a:t>
            </a:r>
            <a:r>
              <a:rPr lang="en-US" sz="1600" dirty="0"/>
              <a:t>2] </a:t>
            </a:r>
            <a:r>
              <a:rPr lang="en-US" sz="1600" dirty="0" err="1"/>
              <a:t>Limsombunchai</a:t>
            </a:r>
            <a:r>
              <a:rPr lang="en-US" sz="1600" dirty="0"/>
              <a:t>, "House price prediction: Hedonic price model vs. ANN," 2004. </a:t>
            </a:r>
            <a:endParaRPr lang="en-US" sz="1600" dirty="0" smtClean="0"/>
          </a:p>
          <a:p>
            <a:pPr marL="0" indent="0">
              <a:buNone/>
            </a:pPr>
            <a:r>
              <a:rPr lang="en-US" sz="1600" dirty="0" smtClean="0"/>
              <a:t>[</a:t>
            </a:r>
            <a:r>
              <a:rPr lang="en-US" sz="1600" dirty="0"/>
              <a:t>3] Phan, "Housing price prediction using ML: Melbourne city," </a:t>
            </a:r>
            <a:r>
              <a:rPr lang="en-US" sz="1600" dirty="0" err="1"/>
              <a:t>iCMLDE</a:t>
            </a:r>
            <a:r>
              <a:rPr lang="en-US" sz="1600" dirty="0"/>
              <a:t>, 2018. </a:t>
            </a:r>
            <a:endParaRPr lang="en-US" sz="1600" dirty="0" smtClean="0"/>
          </a:p>
          <a:p>
            <a:pPr marL="0" indent="0">
              <a:buNone/>
            </a:pPr>
            <a:r>
              <a:rPr lang="en-US" sz="1600" dirty="0" smtClean="0"/>
              <a:t>[</a:t>
            </a:r>
            <a:r>
              <a:rPr lang="en-US" sz="1600" dirty="0"/>
              <a:t>4] Truong et al., "Housing price prediction via improved ML techniques," Procedia CS, 2020. </a:t>
            </a:r>
            <a:endParaRPr lang="en-US" sz="1600" dirty="0" smtClean="0"/>
          </a:p>
          <a:p>
            <a:pPr marL="0" indent="0">
              <a:buNone/>
            </a:pPr>
            <a:r>
              <a:rPr lang="en-US" sz="1600" dirty="0" smtClean="0"/>
              <a:t>[</a:t>
            </a:r>
            <a:r>
              <a:rPr lang="en-US" sz="1600" dirty="0"/>
              <a:t>5] </a:t>
            </a:r>
            <a:r>
              <a:rPr lang="en-US" sz="1600" dirty="0" err="1"/>
              <a:t>Kangane</a:t>
            </a:r>
            <a:r>
              <a:rPr lang="en-US" sz="1600" dirty="0"/>
              <a:t> et al., "Real Estate Price Prediction," IJEAST, 2021. </a:t>
            </a:r>
            <a:endParaRPr lang="en-US" sz="1600" dirty="0" smtClean="0"/>
          </a:p>
          <a:p>
            <a:pPr marL="0" indent="0">
              <a:buNone/>
            </a:pPr>
            <a:r>
              <a:rPr lang="en-US" sz="1600" dirty="0" smtClean="0"/>
              <a:t>[</a:t>
            </a:r>
            <a:r>
              <a:rPr lang="en-US" sz="1600" dirty="0"/>
              <a:t>6] Chen &amp; </a:t>
            </a:r>
            <a:r>
              <a:rPr lang="en-US" sz="1600" dirty="0" err="1"/>
              <a:t>Guestrin</a:t>
            </a:r>
            <a:r>
              <a:rPr lang="en-US" sz="1600" dirty="0"/>
              <a:t>, "</a:t>
            </a:r>
            <a:r>
              <a:rPr lang="en-US" sz="1600" dirty="0" err="1"/>
              <a:t>XGBoost</a:t>
            </a:r>
            <a:r>
              <a:rPr lang="en-US" sz="1600" dirty="0"/>
              <a:t>: A scalable tree boosting system," KDD, 2016. [7] </a:t>
            </a:r>
            <a:r>
              <a:rPr lang="en-US" sz="1600" dirty="0" err="1"/>
              <a:t>Breiman</a:t>
            </a:r>
            <a:r>
              <a:rPr lang="en-US" sz="1600" dirty="0"/>
              <a:t>, "Random forests," Machine Learning, 2001.</a:t>
            </a:r>
          </a:p>
        </p:txBody>
      </p:sp>
    </p:spTree>
    <p:extLst>
      <p:ext uri="{BB962C8B-B14F-4D97-AF65-F5344CB8AC3E}">
        <p14:creationId xmlns:p14="http://schemas.microsoft.com/office/powerpoint/2010/main" val="2937745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34747</TotalTime>
  <Words>895</Words>
  <Application>Microsoft Office PowerPoint</Application>
  <PresentationFormat>On-screen Show (4:3)</PresentationFormat>
  <Paragraphs>87</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MS PGothic</vt:lpstr>
      <vt:lpstr>Arial</vt:lpstr>
      <vt:lpstr>Calibri</vt:lpstr>
      <vt:lpstr>DejaVu Sans</vt:lpstr>
      <vt:lpstr>Times New Roman</vt:lpstr>
      <vt:lpstr>Office Theme</vt:lpstr>
      <vt:lpstr>PowerPoint Presentation</vt:lpstr>
      <vt:lpstr>PowerPoint Presentation</vt:lpstr>
      <vt:lpstr>  Problem Statement</vt:lpstr>
      <vt:lpstr>Objectives </vt:lpstr>
      <vt:lpstr>Dataset</vt:lpstr>
      <vt:lpstr>Correlation Heatmap</vt:lpstr>
      <vt:lpstr>Models Used</vt:lpstr>
      <vt:lpstr>Results</vt:lpstr>
      <vt:lpstr>Applications</vt:lpstr>
      <vt:lpstr>Conclusion</vt:lpstr>
      <vt:lpstr>Future Scope</vt:lpstr>
      <vt:lpstr>References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Dell</cp:lastModifiedBy>
  <cp:revision>2303</cp:revision>
  <dcterms:created xsi:type="dcterms:W3CDTF">2010-04-09T07:36:15Z</dcterms:created>
  <dcterms:modified xsi:type="dcterms:W3CDTF">2026-05-16T05:44:35Z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